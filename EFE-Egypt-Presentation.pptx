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10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490859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افتتاحية العرض. هذا مشروع تقديرٍ شخصي لمؤسسة EFE‑Egypt — موقع رقمي احترافي يوثّق الشكر لكل من ساهم في رحلة التدريب والتطوير.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أربعة محاور: الدافع (الامتنان)، الفكرة (التنفيذ الرقمي)، الرسالة (قيمة الاهتمام بالإنسان)، والعِلم (تحويل ما تعلّمته إلى رسالةٍ وفكرةٍ تُشارَك).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أجندة العرض: ثمانية محاور تغطّي كل أقسام الموقع من رسالة الشكر حتى الأثر الشخصي والخاتمة.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الرسالة المحورية للموقع: الشكر على الاهتمام بالمهندسين وتطويرهم — لا مجرد إتاحة فرصة، بل بناء جاهزية وثقة.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خطاب التقدير الموجّه لأسرة المؤسسة، مقتطفٌ من نصّ الموقع، وموقّع باسم ALnaqib.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ثلاث مجموعات: مدرّبو المهارات الناعمة (د. سيف العقاد، د. شاكورا الزعفراني)، مدرّبو DevOps (م. جمال محمد، م. عبدالرحمن أحمد)، والإدارة والتنظيم (م. شهد جمال).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Senior Academy — المكان المستضيف للتدريب. وشكرٌ خاص لمن تولّيا التنظيم والإدارة: م. يحيى ممتاز و م. ناريمان خطاب.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تعريف موجز بمؤسسة EFE‑Egypt: غير ربحية، تأسست 2008، جزء من شبكة EFE في MENA، وتعمل في عدة مدن مصرية.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الأثر بالأرقام: أكثر من 7000 متدرّب، 80% توظيف، 78% استمرار في العمل، 54% مشاركة نساء — منذ التأسيس عام 2008.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أربعة برامج: التدريب على التوظيف JPTP، التوجيه المهني، المهارات التقنية والرقمية، ثم التوظيف ودعم الخرّيجين.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الأثر الشخصي (Attitude): المهارة التقنية، العقلية المهنية، الجاهزية للسوق، والامتنان كدافع. الرسالة: الموقف الصحيح + الإتقان = النجاح.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الخاتمة: التزامٌ بحمل ما تعلّمته، ووعدٌ بأن يكون عند حسن الظن، مع شكرٍ ختامي موقّع.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سلايد الختام: شكرٌ موجزٌ وأنيق مع التوقيع والمسمّى المهني.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6018124" y="1156716"/>
            <a:ext cx="155448" cy="155448"/>
          </a:xfrm>
          <a:prstGeom prst="rect">
            <a:avLst/>
          </a:prstGeom>
          <a:solidFill>
            <a:srgbClr val="E6CA7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0" y="155448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kern="0" spc="400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EDUCATION FOR EMPLOYMENT  ·  EGYPT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0" y="2057400"/>
            <a:ext cx="1219169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en-US" sz="5600" b="1" dirty="0">
                <a:solidFill>
                  <a:srgbClr val="F6F2E8"/>
                </a:solidFill>
                <a:latin typeface="Aref Ruqaa" pitchFamily="34" charset="0"/>
                <a:ea typeface="Aref Ruqaa" pitchFamily="34" charset="-122"/>
                <a:cs typeface="Aref Ruqaa" pitchFamily="34" charset="-120"/>
              </a:rPr>
              <a:t>رسالةُ تقديرٍ وعِرفان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1463040" y="3611880"/>
            <a:ext cx="92656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en-US" sz="1900" dirty="0">
                <a:solidFill>
                  <a:srgbClr val="D7DDE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إلى مَن آمنوا بمهندسيهم، وصنعوا من التدريب طريقًا نحو المستقبل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181448" y="4617720"/>
            <a:ext cx="182880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0" y="4754880"/>
            <a:ext cx="12191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i="1" dirty="0">
                <a:solidFill>
                  <a:srgbClr val="E6CA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ALnaqib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0" y="544068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en-US" sz="1300" dirty="0">
                <a:solidFill>
                  <a:srgbClr val="93A3B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إعداد وتصميم  ·  Yousef Salem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48640"/>
            <a:ext cx="11002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50" b="1" dirty="0">
                <a:solidFill>
                  <a:srgbClr val="C9A227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المقدمة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594360" y="868680"/>
            <a:ext cx="1100297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F6F2E8"/>
                </a:solidFill>
                <a:latin typeface="Aref Ruqaa" pitchFamily="34" charset="0"/>
                <a:ea typeface="Aref Ruqaa" pitchFamily="34" charset="-122"/>
                <a:cs typeface="Aref Ruqaa" pitchFamily="34" charset="-120"/>
              </a:rPr>
              <a:t>لماذا هذا المشروع؟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94360" y="1664208"/>
            <a:ext cx="1100297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lnSpc>
                <a:spcPct val="125000"/>
              </a:lnSpc>
              <a:buNone/>
            </a:pPr>
            <a:r>
              <a:rPr lang="en-US" sz="1650" dirty="0">
                <a:solidFill>
                  <a:srgbClr val="D7DDE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حين يَمنحك أحدهم فرصةً حقيقية، فإنّ أقلّ ما يُمكن ردّه امتنانٌ يليق بالجهد. وُلِد هذا المشروع من هذا الإحساس: أن أُحوّل الشكر إلى أثرٍ رقميٍّ يبقى، يحمل اسم كلّ من آمن وعلّم.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6227064" y="2788920"/>
            <a:ext cx="5358384" cy="1207008"/>
          </a:xfrm>
          <a:prstGeom prst="roundRect">
            <a:avLst>
              <a:gd name="adj" fmla="val 6818"/>
            </a:avLst>
          </a:prstGeom>
          <a:solidFill>
            <a:srgbClr val="16293C"/>
          </a:solidFill>
          <a:ln w="12700">
            <a:solidFill>
              <a:srgbClr val="2C3E52"/>
            </a:solidFill>
            <a:prstDash val="solid"/>
          </a:ln>
          <a:effectLst>
            <a:outerShdw blurRad="114300" dist="38100" dir="5400000" algn="bl" rotWithShape="0">
              <a:srgbClr val="000000">
                <a:alpha val="3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 rot="2700000">
            <a:off x="11100816" y="309981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01384" y="2971800"/>
            <a:ext cx="4352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E6CA7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الدافع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01384" y="3410712"/>
            <a:ext cx="4809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400" dirty="0">
                <a:solidFill>
                  <a:srgbClr val="D7DDE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امتنانٌ صادق لرحلة تعلّمٍ غيّرت مساري المهني.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4360" y="2788920"/>
            <a:ext cx="5358384" cy="1207008"/>
          </a:xfrm>
          <a:prstGeom prst="roundRect">
            <a:avLst>
              <a:gd name="adj" fmla="val 6818"/>
            </a:avLst>
          </a:prstGeom>
          <a:solidFill>
            <a:srgbClr val="16293C"/>
          </a:solidFill>
          <a:ln w="12700">
            <a:solidFill>
              <a:srgbClr val="2C3E52"/>
            </a:solidFill>
            <a:prstDash val="solid"/>
          </a:ln>
          <a:effectLst>
            <a:outerShdw blurRad="114300" dist="38100" dir="5400000" algn="bl" rotWithShape="0">
              <a:srgbClr val="000000">
                <a:alpha val="3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 rot="2700000">
            <a:off x="5468112" y="309981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2971800"/>
            <a:ext cx="4352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E6CA7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الفكرة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68680" y="3410712"/>
            <a:ext cx="4809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400" dirty="0">
                <a:solidFill>
                  <a:srgbClr val="D7DDE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موقعٌ رقميٌّ راقٍ يوثّق التقدير ويُكرّم صُنّاعه.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27064" y="4233672"/>
            <a:ext cx="5358384" cy="1207008"/>
          </a:xfrm>
          <a:prstGeom prst="roundRect">
            <a:avLst>
              <a:gd name="adj" fmla="val 6818"/>
            </a:avLst>
          </a:prstGeom>
          <a:solidFill>
            <a:srgbClr val="16293C"/>
          </a:solidFill>
          <a:ln w="12700">
            <a:solidFill>
              <a:srgbClr val="2C3E52"/>
            </a:solidFill>
            <a:prstDash val="solid"/>
          </a:ln>
          <a:effectLst>
            <a:outerShdw blurRad="114300" dist="38100" dir="5400000" algn="bl" rotWithShape="0">
              <a:srgbClr val="000000">
                <a:alpha val="3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 rot="2700000">
            <a:off x="11100816" y="4544568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01384" y="4416552"/>
            <a:ext cx="4352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E6CA7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الرسالة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01384" y="4855464"/>
            <a:ext cx="4809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400" dirty="0">
                <a:solidFill>
                  <a:srgbClr val="D7DDE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الاهتمام بالإنسان يصنع أكثر من موظّف… يصنع مستقبلًا.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94360" y="4233672"/>
            <a:ext cx="5358384" cy="1207008"/>
          </a:xfrm>
          <a:prstGeom prst="roundRect">
            <a:avLst>
              <a:gd name="adj" fmla="val 6818"/>
            </a:avLst>
          </a:prstGeom>
          <a:solidFill>
            <a:srgbClr val="16293C"/>
          </a:solidFill>
          <a:ln w="12700">
            <a:solidFill>
              <a:srgbClr val="2C3E52"/>
            </a:solidFill>
            <a:prstDash val="solid"/>
          </a:ln>
          <a:effectLst>
            <a:outerShdw blurRad="114300" dist="38100" dir="5400000" algn="bl" rotWithShape="0">
              <a:srgbClr val="000000">
                <a:alpha val="3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 rot="2700000">
            <a:off x="5468112" y="4544568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68680" y="4416552"/>
            <a:ext cx="4352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E6CA7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العِلم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68680" y="4855464"/>
            <a:ext cx="4809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400" dirty="0">
                <a:solidFill>
                  <a:srgbClr val="D7DDE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أن أُحوّل ما تعلّمته إلى رسالةٍ تُشارَك وفكرةٍ تبقى.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149840" y="640080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i="1" dirty="0">
                <a:solidFill>
                  <a:srgbClr val="E6CA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ALnaqib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94360" y="640080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3A3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0080"/>
            <a:ext cx="11002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50" b="1" dirty="0">
                <a:solidFill>
                  <a:srgbClr val="C9A227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خريطة العرض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594360" y="960120"/>
            <a:ext cx="110029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F6F2E8"/>
                </a:solidFill>
                <a:latin typeface="Aref Ruqaa" pitchFamily="34" charset="0"/>
                <a:ea typeface="Aref Ruqaa" pitchFamily="34" charset="-122"/>
                <a:cs typeface="Aref Ruqaa" pitchFamily="34" charset="-120"/>
              </a:rPr>
              <a:t>محتوى العرض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248095" y="2843784"/>
            <a:ext cx="5349240" cy="0"/>
          </a:xfrm>
          <a:prstGeom prst="line">
            <a:avLst/>
          </a:prstGeom>
          <a:noFill/>
          <a:ln w="12700">
            <a:solidFill>
              <a:srgbClr val="2436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957255" y="2148840"/>
            <a:ext cx="640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248095" y="214884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dirty="0">
                <a:solidFill>
                  <a:srgbClr val="F6F2E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الشكر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48095" y="3721608"/>
            <a:ext cx="5349240" cy="0"/>
          </a:xfrm>
          <a:prstGeom prst="line">
            <a:avLst/>
          </a:prstGeom>
          <a:noFill/>
          <a:ln w="12700">
            <a:solidFill>
              <a:srgbClr val="2436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957255" y="3026664"/>
            <a:ext cx="640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248095" y="3026664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dirty="0">
                <a:solidFill>
                  <a:srgbClr val="F6F2E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خطاب التقدير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48095" y="4599432"/>
            <a:ext cx="5349240" cy="0"/>
          </a:xfrm>
          <a:prstGeom prst="line">
            <a:avLst/>
          </a:prstGeom>
          <a:noFill/>
          <a:ln w="12700">
            <a:solidFill>
              <a:srgbClr val="2436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957255" y="3904488"/>
            <a:ext cx="640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248095" y="3904488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dirty="0">
                <a:solidFill>
                  <a:srgbClr val="F6F2E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شكرٌ خاص للمدرّبين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248095" y="5477256"/>
            <a:ext cx="5349240" cy="0"/>
          </a:xfrm>
          <a:prstGeom prst="line">
            <a:avLst/>
          </a:prstGeom>
          <a:noFill/>
          <a:ln w="12700">
            <a:solidFill>
              <a:srgbClr val="2436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0957255" y="4782312"/>
            <a:ext cx="640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248095" y="4782312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dirty="0">
                <a:solidFill>
                  <a:srgbClr val="F6F2E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Senior Academy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97103" y="2843784"/>
            <a:ext cx="5349240" cy="0"/>
          </a:xfrm>
          <a:prstGeom prst="line">
            <a:avLst/>
          </a:prstGeom>
          <a:noFill/>
          <a:ln w="12700">
            <a:solidFill>
              <a:srgbClr val="2436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306263" y="2148840"/>
            <a:ext cx="640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97103" y="214884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dirty="0">
                <a:solidFill>
                  <a:srgbClr val="F6F2E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 مؤسسة EFE‑Egypt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97103" y="3721608"/>
            <a:ext cx="5349240" cy="0"/>
          </a:xfrm>
          <a:prstGeom prst="line">
            <a:avLst/>
          </a:prstGeom>
          <a:noFill/>
          <a:ln w="12700">
            <a:solidFill>
              <a:srgbClr val="2436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306263" y="3026664"/>
            <a:ext cx="640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97103" y="3026664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dirty="0">
                <a:solidFill>
                  <a:srgbClr val="F6F2E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الأثر بالأرقام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97103" y="4599432"/>
            <a:ext cx="5349240" cy="0"/>
          </a:xfrm>
          <a:prstGeom prst="line">
            <a:avLst/>
          </a:prstGeom>
          <a:noFill/>
          <a:ln w="12700">
            <a:solidFill>
              <a:srgbClr val="2436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306263" y="3904488"/>
            <a:ext cx="640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597103" y="3904488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dirty="0">
                <a:solidFill>
                  <a:srgbClr val="F6F2E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البرامج التدريبية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97103" y="5477256"/>
            <a:ext cx="5349240" cy="0"/>
          </a:xfrm>
          <a:prstGeom prst="line">
            <a:avLst/>
          </a:prstGeom>
          <a:noFill/>
          <a:ln w="12700">
            <a:solidFill>
              <a:srgbClr val="2436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306263" y="4782312"/>
            <a:ext cx="640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597103" y="4782312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dirty="0">
                <a:solidFill>
                  <a:srgbClr val="F6F2E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الأثر الشخصي والخاتمة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0149840" y="640080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i="1" dirty="0">
                <a:solidFill>
                  <a:srgbClr val="E6CA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ALnaqib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640080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3A3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6027268" y="1257300"/>
            <a:ext cx="137160" cy="137160"/>
          </a:xfrm>
          <a:prstGeom prst="rect">
            <a:avLst/>
          </a:prstGeom>
          <a:solidFill>
            <a:srgbClr val="E6CA7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0" y="1600200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50" b="1" dirty="0">
                <a:solidFill>
                  <a:srgbClr val="C9A227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جوهر الرسالة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731520" y="2148840"/>
            <a:ext cx="10728655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lnSpc>
                <a:spcPct val="120000"/>
              </a:lnSpc>
              <a:buNone/>
            </a:pPr>
            <a:r>
              <a:rPr lang="en-US" sz="4200" b="1" dirty="0">
                <a:solidFill>
                  <a:srgbClr val="F6F2E8"/>
                </a:solidFill>
                <a:latin typeface="Aref Ruqaa" pitchFamily="34" charset="0"/>
                <a:ea typeface="Aref Ruqaa" pitchFamily="34" charset="-122"/>
                <a:cs typeface="Aref Ruqaa" pitchFamily="34" charset="-120"/>
              </a:rPr>
              <a:t>شكرًا… لاهتمامكم بمهندسيكم،</a:t>
            </a:r>
            <a:endParaRPr lang="en-US" sz="4200" dirty="0"/>
          </a:p>
          <a:p>
            <a:pPr marL="0" indent="0" algn="ctr" rtl="1">
              <a:lnSpc>
                <a:spcPct val="120000"/>
              </a:lnSpc>
              <a:buNone/>
            </a:pPr>
            <a:r>
              <a:rPr lang="en-US" sz="4200" b="1" dirty="0">
                <a:solidFill>
                  <a:srgbClr val="F6F2E8"/>
                </a:solidFill>
                <a:latin typeface="Aref Ruqaa" pitchFamily="34" charset="0"/>
                <a:ea typeface="Aref Ruqaa" pitchFamily="34" charset="-122"/>
                <a:cs typeface="Aref Ruqaa" pitchFamily="34" charset="-120"/>
              </a:rPr>
              <a:t>وحِرصكم على تطويرهم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1371600" y="4160520"/>
            <a:ext cx="94484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en-US" sz="1900" dirty="0">
                <a:solidFill>
                  <a:srgbClr val="E6CA7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 تفتحوا الأبواب فحسب، بل علّمتمونا كيف نَعبُرها بثقةٍ واقتدار.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94360"/>
            <a:ext cx="11002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50" b="1" dirty="0">
                <a:solidFill>
                  <a:srgbClr val="C9A227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خطاب التقدير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594360" y="914400"/>
            <a:ext cx="1100297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F6F2E8"/>
                </a:solidFill>
                <a:latin typeface="Aref Ruqaa" pitchFamily="34" charset="0"/>
                <a:ea typeface="Aref Ruqaa" pitchFamily="34" charset="-122"/>
                <a:cs typeface="Aref Ruqaa" pitchFamily="34" charset="-120"/>
              </a:rPr>
              <a:t>خطابٌ من القلب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463040" y="1783080"/>
            <a:ext cx="9265615" cy="4297680"/>
          </a:xfrm>
          <a:prstGeom prst="roundRect">
            <a:avLst>
              <a:gd name="adj" fmla="val 1277"/>
            </a:avLst>
          </a:prstGeom>
          <a:solidFill>
            <a:srgbClr val="F7F3EA"/>
          </a:solidFill>
          <a:ln w="15875">
            <a:solidFill>
              <a:srgbClr val="D8C99A"/>
            </a:solidFill>
            <a:prstDash val="solid"/>
          </a:ln>
          <a:effectLst>
            <a:outerShdw blurRad="114300" dist="38100" dir="5400000" algn="bl" rotWithShape="0">
              <a:srgbClr val="000000">
                <a:alpha val="3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011680" y="2194560"/>
            <a:ext cx="8168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2633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إلى أسرة EFE‑Egypt،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011680" y="2788920"/>
            <a:ext cx="81683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ct val="130000"/>
              </a:lnSpc>
              <a:buNone/>
            </a:pPr>
            <a:r>
              <a:rPr lang="en-US" sz="1650" dirty="0">
                <a:solidFill>
                  <a:srgbClr val="49586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نظرتم إلى مهندسيكم لا كأرقامٍ في برنامج، بل كطاقاتٍ تستحقّ أن تُصقَل وتُحتضَن. رعيتم مهاراتنا، وآمنتم بإمكاناتنا، ومنحتمونا من وقتكم وخبرتكم ما حوّل الطموح إلى طريقٍ واضح المعالم.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2011680" y="411480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650" dirty="0">
                <a:solidFill>
                  <a:srgbClr val="49586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فمن كلّ مهندسٍ آمنتم بقدرته: لكم منّا كلّ الشكر والامتنان.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2011680" y="5074920"/>
            <a:ext cx="8168335" cy="0"/>
          </a:xfrm>
          <a:prstGeom prst="line">
            <a:avLst/>
          </a:prstGeom>
          <a:noFill/>
          <a:ln w="12700">
            <a:solidFill>
              <a:srgbClr val="D8C9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619695" y="52120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i="1" dirty="0">
                <a:solidFill>
                  <a:srgbClr val="9C7E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ALnaqib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011680" y="5349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49586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بكلّ تقدير،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149840" y="640080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i="1" dirty="0">
                <a:solidFill>
                  <a:srgbClr val="E6CA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ALnaqib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94360" y="640080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3A3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0080"/>
            <a:ext cx="11002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50" b="1" dirty="0">
                <a:solidFill>
                  <a:srgbClr val="C9A227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وجوهٌ صنعت الفرق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594360" y="960120"/>
            <a:ext cx="110029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F6F2E8"/>
                </a:solidFill>
                <a:latin typeface="Aref Ruqaa" pitchFamily="34" charset="0"/>
                <a:ea typeface="Aref Ruqaa" pitchFamily="34" charset="-122"/>
                <a:cs typeface="Aref Ruqaa" pitchFamily="34" charset="-120"/>
              </a:rPr>
              <a:t>شكرٌ خاص للمُدرّبين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94360" y="2057400"/>
            <a:ext cx="3456432" cy="3200400"/>
          </a:xfrm>
          <a:prstGeom prst="roundRect">
            <a:avLst>
              <a:gd name="adj" fmla="val 2571"/>
            </a:avLst>
          </a:prstGeom>
          <a:solidFill>
            <a:srgbClr val="16293C"/>
          </a:solidFill>
          <a:ln w="12700">
            <a:solidFill>
              <a:srgbClr val="2C3E52"/>
            </a:solidFill>
            <a:prstDash val="solid"/>
          </a:ln>
          <a:effectLst>
            <a:outerShdw blurRad="114300" dist="38100" dir="5400000" algn="bl" rotWithShape="0">
              <a:srgbClr val="000000">
                <a:alpha val="3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86968" y="2368296"/>
            <a:ext cx="2871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50" b="1" dirty="0">
                <a:solidFill>
                  <a:srgbClr val="E6CA7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مدرّبو المهارات الناعمة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886968" y="2807208"/>
            <a:ext cx="2871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kern="0" spc="200" dirty="0">
                <a:solidFill>
                  <a:srgbClr val="93A3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 Skills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86968" y="3227832"/>
            <a:ext cx="2871216" cy="0"/>
          </a:xfrm>
          <a:prstGeom prst="line">
            <a:avLst/>
          </a:prstGeom>
          <a:noFill/>
          <a:ln w="12700">
            <a:solidFill>
              <a:srgbClr val="2C3E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 rot="2700000">
            <a:off x="3575304" y="3547872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86968" y="3429000"/>
            <a:ext cx="2679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dirty="0">
                <a:solidFill>
                  <a:srgbClr val="F6F2E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د. سيف العقاد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 rot="2700000">
            <a:off x="3575304" y="41148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86968" y="3995928"/>
            <a:ext cx="2679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dirty="0">
                <a:solidFill>
                  <a:srgbClr val="F6F2E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د. شاكورا الزعفراني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43400" y="2057400"/>
            <a:ext cx="3456432" cy="3200400"/>
          </a:xfrm>
          <a:prstGeom prst="roundRect">
            <a:avLst>
              <a:gd name="adj" fmla="val 2571"/>
            </a:avLst>
          </a:prstGeom>
          <a:solidFill>
            <a:srgbClr val="16293C"/>
          </a:solidFill>
          <a:ln w="12700">
            <a:solidFill>
              <a:srgbClr val="2C3E52"/>
            </a:solidFill>
            <a:prstDash val="solid"/>
          </a:ln>
          <a:effectLst>
            <a:outerShdw blurRad="114300" dist="38100" dir="5400000" algn="bl" rotWithShape="0">
              <a:srgbClr val="000000">
                <a:alpha val="3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636008" y="2368296"/>
            <a:ext cx="2871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50" b="1" dirty="0">
                <a:solidFill>
                  <a:srgbClr val="E6CA7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مدرّبو التدريب التقني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4636008" y="2807208"/>
            <a:ext cx="2871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kern="0" spc="200" dirty="0">
                <a:solidFill>
                  <a:srgbClr val="93A3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DevOps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36008" y="3227832"/>
            <a:ext cx="2871216" cy="0"/>
          </a:xfrm>
          <a:prstGeom prst="line">
            <a:avLst/>
          </a:prstGeom>
          <a:noFill/>
          <a:ln w="12700">
            <a:solidFill>
              <a:srgbClr val="2C3E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 rot="2700000">
            <a:off x="7324344" y="3547872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636008" y="3429000"/>
            <a:ext cx="2679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dirty="0">
                <a:solidFill>
                  <a:srgbClr val="F6F2E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م. جمال محمد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 rot="2700000">
            <a:off x="7324344" y="41148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636008" y="3995928"/>
            <a:ext cx="2679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dirty="0">
                <a:solidFill>
                  <a:srgbClr val="F6F2E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م. عبدالرحمن أحمد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92440" y="2057400"/>
            <a:ext cx="3456432" cy="3200400"/>
          </a:xfrm>
          <a:prstGeom prst="roundRect">
            <a:avLst>
              <a:gd name="adj" fmla="val 2571"/>
            </a:avLst>
          </a:prstGeom>
          <a:solidFill>
            <a:srgbClr val="16293C"/>
          </a:solidFill>
          <a:ln w="12700">
            <a:solidFill>
              <a:srgbClr val="2C3E52"/>
            </a:solidFill>
            <a:prstDash val="solid"/>
          </a:ln>
          <a:effectLst>
            <a:outerShdw blurRad="114300" dist="38100" dir="5400000" algn="bl" rotWithShape="0">
              <a:srgbClr val="000000">
                <a:alpha val="3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385048" y="2368296"/>
            <a:ext cx="2871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50" b="1" dirty="0">
                <a:solidFill>
                  <a:srgbClr val="E6CA7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فريق الإدارة والتنظيم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8385048" y="2807208"/>
            <a:ext cx="2871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kern="0" spc="200" dirty="0">
                <a:solidFill>
                  <a:srgbClr val="93A3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385048" y="3227832"/>
            <a:ext cx="2871216" cy="0"/>
          </a:xfrm>
          <a:prstGeom prst="line">
            <a:avLst/>
          </a:prstGeom>
          <a:noFill/>
          <a:ln w="12700">
            <a:solidFill>
              <a:srgbClr val="2C3E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 rot="2700000">
            <a:off x="11073384" y="3547872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385048" y="3429000"/>
            <a:ext cx="2679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dirty="0">
                <a:solidFill>
                  <a:srgbClr val="F6F2E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م. شهد جمال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149840" y="640080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i="1" dirty="0">
                <a:solidFill>
                  <a:srgbClr val="E6CA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ALnaqib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94360" y="640080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3A3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0" y="777240"/>
            <a:ext cx="61109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50" b="1" dirty="0">
                <a:solidFill>
                  <a:srgbClr val="C9A227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المكان الذي احتضن الرحلة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5486400" y="1143000"/>
            <a:ext cx="61109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F6F2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Senior Academy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0" y="2148840"/>
            <a:ext cx="611093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lnSpc>
                <a:spcPct val="135000"/>
              </a:lnSpc>
              <a:buNone/>
            </a:pPr>
            <a:r>
              <a:rPr lang="en-US" sz="1800" dirty="0">
                <a:solidFill>
                  <a:srgbClr val="D7DDE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للبيت الذي فتح أبوابه ليجمعنا على التعلّم؛ في قاعاته بدأت الخطوة الأولى نحو المستقبل، وصار المكان نفسه جزءًا من الذكرى.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94360" y="1463040"/>
            <a:ext cx="4480560" cy="4023360"/>
          </a:xfrm>
          <a:prstGeom prst="roundRect">
            <a:avLst>
              <a:gd name="adj" fmla="val 2045"/>
            </a:avLst>
          </a:prstGeom>
          <a:solidFill>
            <a:srgbClr val="16293C"/>
          </a:solidFill>
          <a:ln w="12700">
            <a:solidFill>
              <a:srgbClr val="2C3E52"/>
            </a:solidFill>
            <a:prstDash val="solid"/>
          </a:ln>
          <a:effectLst>
            <a:outerShdw blurRad="114300" dist="38100" dir="5400000" algn="bl" rotWithShape="0">
              <a:srgbClr val="000000">
                <a:alpha val="3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 rot="2700000">
            <a:off x="2766060" y="1943100"/>
            <a:ext cx="137160" cy="137160"/>
          </a:xfrm>
          <a:prstGeom prst="rect">
            <a:avLst/>
          </a:prstGeom>
          <a:solidFill>
            <a:srgbClr val="E6CA7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68680" y="2240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800" b="1" dirty="0">
                <a:solidFill>
                  <a:srgbClr val="E6CA7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شكرٌ خاصّ من القلب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05840" y="27889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lnSpc>
                <a:spcPct val="120000"/>
              </a:lnSpc>
              <a:buNone/>
            </a:pPr>
            <a:r>
              <a:rPr lang="en-US" sz="1400" dirty="0">
                <a:solidFill>
                  <a:srgbClr val="D7DDE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لمن نظّما وأدارا بكلّ حُبٍّ واهتمام، ووقفا بجانبنا في كلّ خطوة.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691640" y="3749040"/>
            <a:ext cx="2286000" cy="0"/>
          </a:xfrm>
          <a:prstGeom prst="line">
            <a:avLst/>
          </a:prstGeom>
          <a:noFill/>
          <a:ln w="12700">
            <a:solidFill>
              <a:srgbClr val="2C3E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68680" y="39319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400" b="1" dirty="0">
                <a:solidFill>
                  <a:srgbClr val="F6F2E8"/>
                </a:solidFill>
                <a:latin typeface="Aref Ruqaa" pitchFamily="34" charset="0"/>
                <a:ea typeface="Aref Ruqaa" pitchFamily="34" charset="-122"/>
                <a:cs typeface="Aref Ruqaa" pitchFamily="34" charset="-120"/>
              </a:rPr>
              <a:t>م. يحيى ممتاز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68680" y="45262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400" b="1" dirty="0">
                <a:solidFill>
                  <a:srgbClr val="F6F2E8"/>
                </a:solidFill>
                <a:latin typeface="Aref Ruqaa" pitchFamily="34" charset="0"/>
                <a:ea typeface="Aref Ruqaa" pitchFamily="34" charset="-122"/>
                <a:cs typeface="Aref Ruqaa" pitchFamily="34" charset="-120"/>
              </a:rPr>
              <a:t>م. ناريمان خطاب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0149840" y="640080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i="1" dirty="0">
                <a:solidFill>
                  <a:srgbClr val="E6CA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ALnaqib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4360" y="640080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3A3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0080"/>
            <a:ext cx="11002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50" b="1" dirty="0">
                <a:solidFill>
                  <a:srgbClr val="C9A227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هي المنظمة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594360" y="960120"/>
            <a:ext cx="110029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F6F2E8"/>
                </a:solidFill>
                <a:latin typeface="Aref Ruqaa" pitchFamily="34" charset="0"/>
                <a:ea typeface="Aref Ruqaa" pitchFamily="34" charset="-122"/>
                <a:cs typeface="Aref Ruqaa" pitchFamily="34" charset="-120"/>
              </a:rPr>
              <a:t>عن مؤسسة EFE‑Egypt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989320" y="1874520"/>
            <a:ext cx="5605272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lnSpc>
                <a:spcPct val="130000"/>
              </a:lnSpc>
              <a:buNone/>
            </a:pPr>
            <a:r>
              <a:rPr lang="en-US" sz="1750" dirty="0">
                <a:solidFill>
                  <a:srgbClr val="D7DDE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مؤسسةٌ مصريةٌ غير ربحية تُجسِّر الفجوة بين الشباب وسوق العمل. منذ عام 2008، تبني برامج تدريبٍ مرتبطةً مباشرةً بفرص عملٍ حقيقية في القطاع الخاص.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5989320" y="3200400"/>
            <a:ext cx="560527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lnSpc>
                <a:spcPct val="130000"/>
              </a:lnSpc>
              <a:buNone/>
            </a:pPr>
            <a:r>
              <a:rPr lang="en-US" sz="1600" dirty="0">
                <a:solidFill>
                  <a:srgbClr val="93A3B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تكتفي بتعليم المهارات المهنية، بل تضيف المهارات التقنية التي يطلبها السوق — من التسويق الرقمي إلى تحليل البيانات — وتظلّ إلى جانب خرّيجيها بالدعم بعد التوظيف، كجزءٍ من شبكة EFE العالمية في الشرق الأوسط وشمال إفريقيا.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94360" y="2057400"/>
            <a:ext cx="4572000" cy="512064"/>
          </a:xfrm>
          <a:prstGeom prst="roundRect">
            <a:avLst>
              <a:gd name="adj" fmla="val 50000"/>
            </a:avLst>
          </a:prstGeom>
          <a:solidFill>
            <a:srgbClr val="16293C"/>
          </a:solidFill>
          <a:ln w="12700">
            <a:solidFill>
              <a:srgbClr val="2C3E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 rot="2700000">
            <a:off x="4745736" y="2258568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2057400"/>
            <a:ext cx="3840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6F2E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غير ربحية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" y="2715768"/>
            <a:ext cx="4572000" cy="512064"/>
          </a:xfrm>
          <a:prstGeom prst="roundRect">
            <a:avLst>
              <a:gd name="adj" fmla="val 50000"/>
            </a:avLst>
          </a:prstGeom>
          <a:solidFill>
            <a:srgbClr val="16293C"/>
          </a:solidFill>
          <a:ln w="12700">
            <a:solidFill>
              <a:srgbClr val="2C3E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 rot="2700000">
            <a:off x="4745736" y="291693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2715768"/>
            <a:ext cx="3840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6F2E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منذ عام 2008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" y="3374136"/>
            <a:ext cx="4572000" cy="512064"/>
          </a:xfrm>
          <a:prstGeom prst="roundRect">
            <a:avLst>
              <a:gd name="adj" fmla="val 50000"/>
            </a:avLst>
          </a:prstGeom>
          <a:solidFill>
            <a:srgbClr val="16293C"/>
          </a:solidFill>
          <a:ln w="12700">
            <a:solidFill>
              <a:srgbClr val="2C3E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 rot="2700000">
            <a:off x="4745736" y="357530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68680" y="3374136"/>
            <a:ext cx="3840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6F2E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شبكة EFE العالمية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" y="4032504"/>
            <a:ext cx="4572000" cy="512064"/>
          </a:xfrm>
          <a:prstGeom prst="roundRect">
            <a:avLst>
              <a:gd name="adj" fmla="val 50000"/>
            </a:avLst>
          </a:prstGeom>
          <a:solidFill>
            <a:srgbClr val="16293C"/>
          </a:solidFill>
          <a:ln w="12700">
            <a:solidFill>
              <a:srgbClr val="2C3E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 rot="2700000">
            <a:off x="4745736" y="4233672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" y="4032504"/>
            <a:ext cx="3840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6F2E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القاهرة · الإسكندرية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94360" y="4690872"/>
            <a:ext cx="4572000" cy="512064"/>
          </a:xfrm>
          <a:prstGeom prst="roundRect">
            <a:avLst>
              <a:gd name="adj" fmla="val 50000"/>
            </a:avLst>
          </a:prstGeom>
          <a:solidFill>
            <a:srgbClr val="16293C"/>
          </a:solidFill>
          <a:ln w="12700">
            <a:solidFill>
              <a:srgbClr val="2C3E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 rot="2700000">
            <a:off x="4745736" y="489204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68680" y="4690872"/>
            <a:ext cx="3840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6F2E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قنا · بورسعيد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149840" y="640080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i="1" dirty="0">
                <a:solidFill>
                  <a:srgbClr val="E6CA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ALnaqib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94360" y="640080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3A3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0080"/>
            <a:ext cx="11002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50" b="1" dirty="0">
                <a:solidFill>
                  <a:srgbClr val="C9A227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أثرٌ يُقاس بالأرقام  ·  منذ 2008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594360" y="960120"/>
            <a:ext cx="110029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F6F2E8"/>
                </a:solidFill>
                <a:latin typeface="Aref Ruqaa" pitchFamily="34" charset="0"/>
                <a:ea typeface="Aref Ruqaa" pitchFamily="34" charset="-122"/>
                <a:cs typeface="Aref Ruqaa" pitchFamily="34" charset="-120"/>
              </a:rPr>
              <a:t>الأثر… بالأرقام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94360" y="2286000"/>
            <a:ext cx="2670048" cy="2743200"/>
          </a:xfrm>
          <a:prstGeom prst="roundRect">
            <a:avLst>
              <a:gd name="adj" fmla="val 3082"/>
            </a:avLst>
          </a:prstGeom>
          <a:solidFill>
            <a:srgbClr val="16293C"/>
          </a:solidFill>
          <a:ln w="12700">
            <a:solidFill>
              <a:srgbClr val="2C3E52"/>
            </a:solidFill>
            <a:prstDash val="solid"/>
          </a:ln>
          <a:effectLst>
            <a:outerShdw blurRad="114300" dist="38100" dir="5400000" algn="bl" rotWithShape="0">
              <a:srgbClr val="000000">
                <a:alpha val="3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2788920"/>
            <a:ext cx="26700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E6CA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+7000</a:t>
            </a:r>
            <a:endParaRPr lang="en-US" sz="5400" dirty="0"/>
          </a:p>
        </p:txBody>
      </p:sp>
      <p:sp>
        <p:nvSpPr>
          <p:cNvPr id="6" name="Shape 4"/>
          <p:cNvSpPr/>
          <p:nvPr/>
        </p:nvSpPr>
        <p:spPr>
          <a:xfrm>
            <a:off x="1472184" y="3977640"/>
            <a:ext cx="91440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77240" y="4160520"/>
            <a:ext cx="2304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lnSpc>
                <a:spcPct val="115000"/>
              </a:lnSpc>
              <a:buNone/>
            </a:pPr>
            <a:r>
              <a:rPr lang="en-US" sz="1450" dirty="0">
                <a:solidFill>
                  <a:srgbClr val="D7DDE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شابٍّ وشابة تدرّبوا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3538728" y="2286000"/>
            <a:ext cx="2670048" cy="2743200"/>
          </a:xfrm>
          <a:prstGeom prst="roundRect">
            <a:avLst>
              <a:gd name="adj" fmla="val 3082"/>
            </a:avLst>
          </a:prstGeom>
          <a:solidFill>
            <a:srgbClr val="16293C"/>
          </a:solidFill>
          <a:ln w="12700">
            <a:solidFill>
              <a:srgbClr val="2C3E52"/>
            </a:solidFill>
            <a:prstDash val="solid"/>
          </a:ln>
          <a:effectLst>
            <a:outerShdw blurRad="114300" dist="38100" dir="5400000" algn="bl" rotWithShape="0">
              <a:srgbClr val="000000">
                <a:alpha val="3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538728" y="2788920"/>
            <a:ext cx="26700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E6CA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5400" dirty="0"/>
          </a:p>
        </p:txBody>
      </p:sp>
      <p:sp>
        <p:nvSpPr>
          <p:cNvPr id="10" name="Shape 8"/>
          <p:cNvSpPr/>
          <p:nvPr/>
        </p:nvSpPr>
        <p:spPr>
          <a:xfrm>
            <a:off x="4416552" y="3977640"/>
            <a:ext cx="91440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21608" y="4160520"/>
            <a:ext cx="2304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lnSpc>
                <a:spcPct val="115000"/>
              </a:lnSpc>
              <a:buNone/>
            </a:pPr>
            <a:r>
              <a:rPr lang="en-US" sz="1450" dirty="0">
                <a:solidFill>
                  <a:srgbClr val="D7DDE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نسبة التوظيف بعد التدريب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83096" y="2286000"/>
            <a:ext cx="2670048" cy="2743200"/>
          </a:xfrm>
          <a:prstGeom prst="roundRect">
            <a:avLst>
              <a:gd name="adj" fmla="val 3082"/>
            </a:avLst>
          </a:prstGeom>
          <a:solidFill>
            <a:srgbClr val="16293C"/>
          </a:solidFill>
          <a:ln w="12700">
            <a:solidFill>
              <a:srgbClr val="2C3E52"/>
            </a:solidFill>
            <a:prstDash val="solid"/>
          </a:ln>
          <a:effectLst>
            <a:outerShdw blurRad="114300" dist="38100" dir="5400000" algn="bl" rotWithShape="0">
              <a:srgbClr val="000000">
                <a:alpha val="3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83096" y="2788920"/>
            <a:ext cx="26700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E6CA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78%</a:t>
            </a:r>
            <a:endParaRPr lang="en-US" sz="5400" dirty="0"/>
          </a:p>
        </p:txBody>
      </p:sp>
      <p:sp>
        <p:nvSpPr>
          <p:cNvPr id="14" name="Shape 12"/>
          <p:cNvSpPr/>
          <p:nvPr/>
        </p:nvSpPr>
        <p:spPr>
          <a:xfrm>
            <a:off x="7360920" y="3977640"/>
            <a:ext cx="91440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65976" y="4160520"/>
            <a:ext cx="2304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lnSpc>
                <a:spcPct val="115000"/>
              </a:lnSpc>
              <a:buNone/>
            </a:pPr>
            <a:r>
              <a:rPr lang="en-US" sz="1450" dirty="0">
                <a:solidFill>
                  <a:srgbClr val="D7DDE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استمرارٌ في الوظيفة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9427464" y="2286000"/>
            <a:ext cx="2670048" cy="2743200"/>
          </a:xfrm>
          <a:prstGeom prst="roundRect">
            <a:avLst>
              <a:gd name="adj" fmla="val 3082"/>
            </a:avLst>
          </a:prstGeom>
          <a:solidFill>
            <a:srgbClr val="16293C"/>
          </a:solidFill>
          <a:ln w="12700">
            <a:solidFill>
              <a:srgbClr val="2C3E52"/>
            </a:solidFill>
            <a:prstDash val="solid"/>
          </a:ln>
          <a:effectLst>
            <a:outerShdw blurRad="114300" dist="38100" dir="5400000" algn="bl" rotWithShape="0">
              <a:srgbClr val="000000">
                <a:alpha val="3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427464" y="2788920"/>
            <a:ext cx="26700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E6CA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54%</a:t>
            </a:r>
            <a:endParaRPr lang="en-US" sz="5400" dirty="0"/>
          </a:p>
        </p:txBody>
      </p:sp>
      <p:sp>
        <p:nvSpPr>
          <p:cNvPr id="18" name="Shape 16"/>
          <p:cNvSpPr/>
          <p:nvPr/>
        </p:nvSpPr>
        <p:spPr>
          <a:xfrm>
            <a:off x="10305288" y="3977640"/>
            <a:ext cx="91440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610344" y="4160520"/>
            <a:ext cx="2304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lnSpc>
                <a:spcPct val="115000"/>
              </a:lnSpc>
              <a:buNone/>
            </a:pPr>
            <a:r>
              <a:rPr lang="en-US" sz="1450" dirty="0">
                <a:solidFill>
                  <a:srgbClr val="D7DDE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مشاركة النساء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0149840" y="640080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i="1" dirty="0">
                <a:solidFill>
                  <a:srgbClr val="E6CA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ALnaqib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640080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3A3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94360"/>
            <a:ext cx="11002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50" b="1" dirty="0">
                <a:solidFill>
                  <a:srgbClr val="C9A227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كيف يصنعون الفرق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594360" y="914400"/>
            <a:ext cx="1100297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F6F2E8"/>
                </a:solidFill>
                <a:latin typeface="Aref Ruqaa" pitchFamily="34" charset="0"/>
                <a:ea typeface="Aref Ruqaa" pitchFamily="34" charset="-122"/>
                <a:cs typeface="Aref Ruqaa" pitchFamily="34" charset="-120"/>
              </a:rPr>
              <a:t>البرامج التدريبية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245352" y="187452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16293C"/>
          </a:solidFill>
          <a:ln w="12700">
            <a:solidFill>
              <a:srgbClr val="2C3E52"/>
            </a:solidFill>
            <a:prstDash val="solid"/>
          </a:ln>
          <a:effectLst>
            <a:outerShdw blurRad="114300" dist="38100" dir="5400000" algn="bl" rotWithShape="0">
              <a:srgbClr val="000000">
                <a:alpha val="3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680192" y="2075688"/>
            <a:ext cx="68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519672" y="21031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50" b="1" dirty="0">
                <a:solidFill>
                  <a:srgbClr val="E6CA7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التدريب على التوظيف (JPTP)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6519672" y="274320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ct val="118000"/>
              </a:lnSpc>
              <a:buNone/>
            </a:pPr>
            <a:r>
              <a:rPr lang="en-US" sz="1350" dirty="0">
                <a:solidFill>
                  <a:srgbClr val="D7DDE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برنامجٌ مكثّف يصل إلى 160 ساعة تدريبية يمنح الخرّيجين أدوات الحصول على وظيفة والحفاظ عليها.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187452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16293C"/>
          </a:solidFill>
          <a:ln w="12700">
            <a:solidFill>
              <a:srgbClr val="2C3E52"/>
            </a:solidFill>
            <a:prstDash val="solid"/>
          </a:ln>
          <a:effectLst>
            <a:outerShdw blurRad="114300" dist="38100" dir="5400000" algn="bl" rotWithShape="0">
              <a:srgbClr val="000000">
                <a:alpha val="3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0" y="2075688"/>
            <a:ext cx="68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868680" y="21031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50" b="1" dirty="0">
                <a:solidFill>
                  <a:srgbClr val="E6CA7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التوجيه المهني (Career Directions)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868680" y="274320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ct val="118000"/>
              </a:lnSpc>
              <a:buNone/>
            </a:pPr>
            <a:r>
              <a:rPr lang="en-US" sz="1350" dirty="0">
                <a:solidFill>
                  <a:srgbClr val="D7DDE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تهيئةٌ استباقية لطلّاب السنوات النهائية وحديثي التخرّج بالمهارات الأساسية لدخول سوق العمل.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245352" y="3913632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16293C"/>
          </a:solidFill>
          <a:ln w="12700">
            <a:solidFill>
              <a:srgbClr val="2C3E52"/>
            </a:solidFill>
            <a:prstDash val="solid"/>
          </a:ln>
          <a:effectLst>
            <a:outerShdw blurRad="114300" dist="38100" dir="5400000" algn="bl" rotWithShape="0">
              <a:srgbClr val="000000">
                <a:alpha val="3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680192" y="4114800"/>
            <a:ext cx="68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519672" y="414223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50" b="1" dirty="0">
                <a:solidFill>
                  <a:srgbClr val="E6CA7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المهارات التقنية والرقمية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6519672" y="4782312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ct val="118000"/>
              </a:lnSpc>
              <a:buNone/>
            </a:pPr>
            <a:r>
              <a:rPr lang="en-US" sz="1350" dirty="0">
                <a:solidFill>
                  <a:srgbClr val="D7DDE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تدريبٌ على ما يطلبه السوق فعلًا، من التسويق الرقمي إلى تحليل البيانات.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94360" y="3913632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16293C"/>
          </a:solidFill>
          <a:ln w="12700">
            <a:solidFill>
              <a:srgbClr val="2C3E52"/>
            </a:solidFill>
            <a:prstDash val="solid"/>
          </a:ln>
          <a:effectLst>
            <a:outerShdw blurRad="114300" dist="38100" dir="5400000" algn="bl" rotWithShape="0">
              <a:srgbClr val="000000">
                <a:alpha val="3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029200" y="4114800"/>
            <a:ext cx="68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68680" y="414223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50" b="1" dirty="0">
                <a:solidFill>
                  <a:srgbClr val="E6CA7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التوظيف ودعم الخرّيجين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868680" y="4782312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ct val="118000"/>
              </a:lnSpc>
              <a:buNone/>
            </a:pPr>
            <a:r>
              <a:rPr lang="en-US" sz="1350" dirty="0">
                <a:solidFill>
                  <a:srgbClr val="D7DDE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ربطُ الشباب بفرصٍ ملموسة والوقوف بجانبهم بالمتابعة بعد دخول العمل.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149840" y="640080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i="1" dirty="0">
                <a:solidFill>
                  <a:srgbClr val="E6CA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ALnaqib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640080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3A3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94360"/>
            <a:ext cx="11002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50" b="1" dirty="0">
                <a:solidFill>
                  <a:srgbClr val="C9A227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أخذتُ معي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594360" y="914400"/>
            <a:ext cx="1100297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F6F2E8"/>
                </a:solidFill>
                <a:latin typeface="Aref Ruqaa" pitchFamily="34" charset="0"/>
                <a:ea typeface="Aref Ruqaa" pitchFamily="34" charset="-122"/>
                <a:cs typeface="Aref Ruqaa" pitchFamily="34" charset="-120"/>
              </a:rPr>
              <a:t>أثرٌ يتجاوز المهارة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245352" y="1828800"/>
            <a:ext cx="5349240" cy="1207008"/>
          </a:xfrm>
          <a:prstGeom prst="roundRect">
            <a:avLst>
              <a:gd name="adj" fmla="val 6818"/>
            </a:avLst>
          </a:prstGeom>
          <a:solidFill>
            <a:srgbClr val="16293C"/>
          </a:solidFill>
          <a:ln w="12700">
            <a:solidFill>
              <a:srgbClr val="2C3E52"/>
            </a:solidFill>
            <a:prstDash val="solid"/>
          </a:ln>
          <a:effectLst>
            <a:outerShdw blurRad="114300" dist="38100" dir="5400000" algn="bl" rotWithShape="0">
              <a:srgbClr val="000000">
                <a:alpha val="3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 rot="2700000">
            <a:off x="11055096" y="2130552"/>
            <a:ext cx="164592" cy="164592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519672" y="2011680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50" b="1" dirty="0">
                <a:solidFill>
                  <a:srgbClr val="E6CA7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مهارةٌ تقنية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6519672" y="2450592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350" dirty="0">
                <a:solidFill>
                  <a:srgbClr val="D7DDE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أساسٌ متينٌ في DevOps وأدواته، وفهمٌ عمليٌّ لا نظري.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1828800"/>
            <a:ext cx="5349240" cy="1207008"/>
          </a:xfrm>
          <a:prstGeom prst="roundRect">
            <a:avLst>
              <a:gd name="adj" fmla="val 6818"/>
            </a:avLst>
          </a:prstGeom>
          <a:solidFill>
            <a:srgbClr val="16293C"/>
          </a:solidFill>
          <a:ln w="12700">
            <a:solidFill>
              <a:srgbClr val="2C3E52"/>
            </a:solidFill>
            <a:prstDash val="solid"/>
          </a:ln>
          <a:effectLst>
            <a:outerShdw blurRad="114300" dist="38100" dir="5400000" algn="bl" rotWithShape="0">
              <a:srgbClr val="000000">
                <a:alpha val="3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 rot="2700000">
            <a:off x="5404104" y="2130552"/>
            <a:ext cx="164592" cy="164592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68680" y="2011680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50" b="1" dirty="0">
                <a:solidFill>
                  <a:srgbClr val="E6CA7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عقليةٌ مهنية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868680" y="2450592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350" dirty="0">
                <a:solidFill>
                  <a:srgbClr val="D7DDE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انضباطٌ ومسؤولية، وروح فريقٍ تُقدّم العمل على الذات.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245352" y="3273552"/>
            <a:ext cx="5349240" cy="1207008"/>
          </a:xfrm>
          <a:prstGeom prst="roundRect">
            <a:avLst>
              <a:gd name="adj" fmla="val 6818"/>
            </a:avLst>
          </a:prstGeom>
          <a:solidFill>
            <a:srgbClr val="16293C"/>
          </a:solidFill>
          <a:ln w="12700">
            <a:solidFill>
              <a:srgbClr val="2C3E52"/>
            </a:solidFill>
            <a:prstDash val="solid"/>
          </a:ln>
          <a:effectLst>
            <a:outerShdw blurRad="114300" dist="38100" dir="5400000" algn="bl" rotWithShape="0">
              <a:srgbClr val="000000">
                <a:alpha val="3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 rot="2700000">
            <a:off x="11055096" y="3575304"/>
            <a:ext cx="164592" cy="164592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519672" y="345643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50" b="1" dirty="0">
                <a:solidFill>
                  <a:srgbClr val="E6CA7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جاهزيةٌ للسوق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6519672" y="3895344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350" dirty="0">
                <a:solidFill>
                  <a:srgbClr val="D7DDE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ثقةٌ في مواجهة التحدّيات الحقيقية لا الافتراضية.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94360" y="3273552"/>
            <a:ext cx="5349240" cy="1207008"/>
          </a:xfrm>
          <a:prstGeom prst="roundRect">
            <a:avLst>
              <a:gd name="adj" fmla="val 6818"/>
            </a:avLst>
          </a:prstGeom>
          <a:solidFill>
            <a:srgbClr val="16293C"/>
          </a:solidFill>
          <a:ln w="12700">
            <a:solidFill>
              <a:srgbClr val="2C3E52"/>
            </a:solidFill>
            <a:prstDash val="solid"/>
          </a:ln>
          <a:effectLst>
            <a:outerShdw blurRad="114300" dist="38100" dir="5400000" algn="bl" rotWithShape="0">
              <a:srgbClr val="000000">
                <a:alpha val="3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 rot="2700000">
            <a:off x="5404104" y="3575304"/>
            <a:ext cx="164592" cy="164592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68680" y="345643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50" b="1" dirty="0">
                <a:solidFill>
                  <a:srgbClr val="E6CA7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امتنانٌ يدفعني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868680" y="3895344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350" dirty="0">
                <a:solidFill>
                  <a:srgbClr val="D7DDE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أن أردّ الجميل بأن أُتقن، وأُطوّر، وأنقل ما تعلّمت.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94360" y="5532120"/>
            <a:ext cx="1100297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en-US" sz="1800" i="1" dirty="0">
                <a:solidFill>
                  <a:srgbClr val="E6CA7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الموقفُ الصحيح يصنع نصف النجاح… والإتقانُ يصنع نصفه الآخر.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149840" y="640080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i="1" dirty="0">
                <a:solidFill>
                  <a:srgbClr val="E6CA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ALnaqib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94360" y="640080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3A3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6027268" y="1257300"/>
            <a:ext cx="137160" cy="137160"/>
          </a:xfrm>
          <a:prstGeom prst="rect">
            <a:avLst/>
          </a:prstGeom>
          <a:solidFill>
            <a:srgbClr val="E6CA7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0" y="1600200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50" b="1" dirty="0">
                <a:solidFill>
                  <a:srgbClr val="C9A227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خاتمة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en-US" sz="4000" b="1" dirty="0">
                <a:solidFill>
                  <a:srgbClr val="F6F2E8"/>
                </a:solidFill>
                <a:latin typeface="Aref Ruqaa" pitchFamily="34" charset="0"/>
                <a:ea typeface="Aref Ruqaa" pitchFamily="34" charset="-122"/>
                <a:cs typeface="Aref Ruqaa" pitchFamily="34" charset="-120"/>
              </a:rPr>
              <a:t>ما تعلّمتُه لن يبقى حبيسَ القاعات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828800" y="3200400"/>
            <a:ext cx="8534095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 rtl="1">
              <a:lnSpc>
                <a:spcPct val="135000"/>
              </a:lnSpc>
              <a:buNone/>
            </a:pPr>
            <a:r>
              <a:rPr lang="en-US" sz="1850" dirty="0">
                <a:solidFill>
                  <a:srgbClr val="D7DDE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سأحمله معي في كلّ مشروعٍ ومسؤولية، ولكم منّي وعدٌ بأن أكون عند حُسن الظنّ. كلّ الشكر لمن آمن، ورعى، وطوّر — أنتم بدايةُ الطريق، لا نهايته.</a:t>
            </a:r>
            <a:endParaRPr lang="en-US" sz="1850" dirty="0"/>
          </a:p>
        </p:txBody>
      </p:sp>
      <p:sp>
        <p:nvSpPr>
          <p:cNvPr id="6" name="Shape 4"/>
          <p:cNvSpPr/>
          <p:nvPr/>
        </p:nvSpPr>
        <p:spPr>
          <a:xfrm>
            <a:off x="5181448" y="4892040"/>
            <a:ext cx="182880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0" y="50292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i="1" dirty="0">
                <a:solidFill>
                  <a:srgbClr val="E6CA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ALnaqib</a:t>
            </a:r>
            <a:endParaRPr lang="en-US" sz="2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011680"/>
            <a:ext cx="12191695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en-US" sz="9000" b="1" dirty="0">
                <a:solidFill>
                  <a:srgbClr val="E6CA76"/>
                </a:solidFill>
                <a:latin typeface="Aref Ruqaa" pitchFamily="34" charset="0"/>
                <a:ea typeface="Aref Ruqaa" pitchFamily="34" charset="-122"/>
                <a:cs typeface="Aref Ruqaa" pitchFamily="34" charset="-120"/>
              </a:rPr>
              <a:t>شكرًا</a:t>
            </a:r>
            <a:endParaRPr lang="en-US" sz="9000" dirty="0"/>
          </a:p>
        </p:txBody>
      </p:sp>
      <p:sp>
        <p:nvSpPr>
          <p:cNvPr id="3" name="Text 1"/>
          <p:cNvSpPr/>
          <p:nvPr/>
        </p:nvSpPr>
        <p:spPr>
          <a:xfrm>
            <a:off x="1371600" y="3703320"/>
            <a:ext cx="94484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en-US" sz="1700" dirty="0">
                <a:solidFill>
                  <a:srgbClr val="D7DDE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إلى أسرة EFE‑Egypt و Senior Academy — ولكلّ مَن صنع الفرق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272888" y="4526280"/>
            <a:ext cx="164592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0" y="466344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i="1" dirty="0">
                <a:solidFill>
                  <a:srgbClr val="E6CA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ALnaqib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0" y="530352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kern="0" spc="200" dirty="0">
                <a:solidFill>
                  <a:srgbClr val="93A3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Yousef Salem  DevOps Engineer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968</Words>
  <Application>Microsoft Office PowerPoint</Application>
  <PresentationFormat>Widescreen</PresentationFormat>
  <Paragraphs>161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Aref Ruqaa</vt:lpstr>
      <vt:lpstr>Arial</vt:lpstr>
      <vt:lpstr>Cambria</vt:lpstr>
      <vt:lpstr>Tajawal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EFE Egypt — رسالة تقدير</dc:title>
  <dc:subject>PptxGenJS Presentation</dc:subject>
  <dc:creator>ALnaqib — Yousef Salem</dc:creator>
  <cp:lastModifiedBy>Yousef Alnaqib</cp:lastModifiedBy>
  <cp:revision>2</cp:revision>
  <dcterms:created xsi:type="dcterms:W3CDTF">2026-06-16T17:41:25Z</dcterms:created>
  <dcterms:modified xsi:type="dcterms:W3CDTF">2026-06-16T20:43:45Z</dcterms:modified>
</cp:coreProperties>
</file>