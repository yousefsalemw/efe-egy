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افتتاحية العرض. هذا مشروع تقديرٍ شخصي لمؤسسة EFE‑Egypt — موقع رقمي احترافي يوثّق الشكر لكل من ساهم في رحلة التدريب والتطوير.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محاور: الدافع (الامتنان)، الفكرة (التنفيذ الرقمي)، الرسالة (قيمة الاهتمام بالإنسان)، والعِلم (تحويل ما تعلّمته إلى رسالةٍ وفكرةٍ تُشارَك).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أجندة العرض: ثمانية محاور تغطّي كل أقسام الموقع من رسالة الشكر حتى الأثر الشخصي والخاتمة.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الرسالة المحورية للموقع: الشكر على الاهتمام بالمهندسين وتطويرهم — لا مجرد إتاحة فرصة، بل بناء جاهزية وثقة.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خطاب التقدير الموجّه لأسرة المؤسسة، مقتطفٌ من نصّ الموقع، وموقّع باسم ALnaqib.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ثلاث مجموعات: مدرّبو المهارات الناعمة (د. سيف العقاد، د. شاكورا الزعفراني)، مدرّبو DevOps (م. جمال محمد، م. عبدالرحمن أحمد)، والإدارة والتنظيم (م. شهد جمال).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Senior Academy — المكان المستضيف للتدريب. وشكرٌ خاص لمن تولّيا التنظيم والإدارة: م. يحيى ممتاز و م. ناريمان خطاب.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تعريف موجز بمؤسسة EFE‑Egypt: غير ربحية، تأسست 2008، جزء من شبكة EFE في MENA، وتعمل في عدة مدن مصرية.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الأثر بالأرقام: أكثر من 7000 متدرّب، 80% توظيف، 78% استمرار في العمل، 54% مشاركة نساء — منذ التأسيس عام 2008.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أربعة برامج: التدريب على التوظيف JPTP، التوجيه المهني، المهارات التقنية والرقمية، ثم التوظيف ودعم الخرّيجين.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الأثر الشخصي (Attitude): المهارة التقنية، العقلية المهنية، الجاهزية للسوق، والامتنان كدافع. الرسالة: الموقف الصحيح + الإتقان = النجاح.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الخاتمة: التزامٌ بحمل ما تعلّمته، ووعدٌ بأن يكون عند حسن الظن، مع شكرٍ ختامي موقّع.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سلايد الختام: شكرٌ موجزٌ وأنيق مع التوقيع والمسمّى المهني.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018124" y="1156716"/>
            <a:ext cx="155448" cy="155448"/>
          </a:xfrm>
          <a:prstGeom prst="rect">
            <a:avLst/>
          </a:prstGeom>
          <a:solidFill>
            <a:srgbClr val="E6CA7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5544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EDUCATION FOR EMPLOYMENT  ·  EGYPT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0" y="2057400"/>
            <a:ext cx="12191695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6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رسالةُ تقديرٍ وعِرفان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1463040" y="3611880"/>
            <a:ext cx="92656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مَن آمنوا بمهندسيهم، وصنعوا من التدريب طريقًا نحو المستقبل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181448" y="4617720"/>
            <a:ext cx="1828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475488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300" dirty="0">
                <a:solidFill>
                  <a:srgbClr val="93A3B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إعداد وتصميم  ·  Yousef Salem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4864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المقدمة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868680"/>
            <a:ext cx="110029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لماذا هذا المشروع؟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94360" y="1664208"/>
            <a:ext cx="11002975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5000"/>
              </a:lnSpc>
              <a:buNone/>
            </a:pPr>
            <a:r>
              <a:rPr lang="en-US" sz="16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حين يَمنحك أحدهم فرصةً حقيقية، فإنّ أقلّ ما يُمكن ردّه امتنانٌ يليق بالجهد. وُلِد هذا المشروع من هذا الإحساس: أن أُحوّل الشكر إلى أثرٍ رقميٍّ يبقى، يحمل اسم كلّ من آمن وعلّم.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6227064" y="2788920"/>
            <a:ext cx="5358384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700000">
            <a:off x="11100816" y="309981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6501384" y="2971800"/>
            <a:ext cx="4352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الدافع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01384" y="341071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امتنانٌ صادق لرحلة تعلّمٍ غيّرت مساري المهني.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" y="2788920"/>
            <a:ext cx="5358384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 rot="2700000">
            <a:off x="5468112" y="309981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971800"/>
            <a:ext cx="4352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الفكرة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68680" y="3410712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موقعٌ رقميٌّ راقٍ يوثّق التقدير ويُكرّم صُنّاعه.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7064" y="4233672"/>
            <a:ext cx="5358384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 rot="2700000">
            <a:off x="11100816" y="4544568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4416552"/>
            <a:ext cx="4352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الرسالة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501384" y="4855464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الاهتمام بالإنسان يصنع أكثر من موظّف… يصنع مستقبلًا.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233672"/>
            <a:ext cx="5358384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 rot="2700000">
            <a:off x="5468112" y="4544568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416552"/>
            <a:ext cx="4352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80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العِلم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68680" y="4855464"/>
            <a:ext cx="4809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أُحوّل ما تعلّمته إلى رسالةٍ تُشارَك وفكرةٍ تبقى.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خريطة العرض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محتوى العرض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248095" y="2843784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57255" y="214884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48095" y="21488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الشكر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095" y="3721608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57255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248095" y="30266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خطاب التقدير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248095" y="4599432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57255" y="39044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48095" y="390448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شكرٌ خاص للمدرّبين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095" y="5477256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57255" y="4782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248095" y="478231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Senior Academy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7103" y="2843784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6263" y="2148840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97103" y="21488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 مؤسسة EFE‑Egypt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597103" y="3721608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6263" y="3026664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7103" y="30266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الأثر بالأرقام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597103" y="4599432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6263" y="3904488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597103" y="390448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البرامج التدريبية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597103" y="5477256"/>
            <a:ext cx="5349240" cy="0"/>
          </a:xfrm>
          <a:prstGeom prst="line">
            <a:avLst/>
          </a:prstGeom>
          <a:noFill/>
          <a:ln w="12700">
            <a:solidFill>
              <a:srgbClr val="2436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306263" y="4782312"/>
            <a:ext cx="640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597103" y="478231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الأثر الشخصي والخاتمة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027268" y="1257300"/>
            <a:ext cx="137160" cy="137160"/>
          </a:xfrm>
          <a:prstGeom prst="rect">
            <a:avLst/>
          </a:prstGeom>
          <a:solidFill>
            <a:srgbClr val="E6CA7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جوهر الرسالة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1520" y="2148840"/>
            <a:ext cx="10728655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شكرًا… لاهتمامكم بمهندسيكم،</a:t>
            </a:r>
            <a:endParaRPr lang="en-US" sz="4200" dirty="0"/>
          </a:p>
          <a:p>
            <a:pPr rtl="1" algn="ctr" indent="0" marL="0">
              <a:lnSpc>
                <a:spcPct val="120000"/>
              </a:lnSpc>
              <a:buNone/>
            </a:pPr>
            <a:r>
              <a:rPr lang="en-US" sz="42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وحِرصكم على تطويرهم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1371600" y="4160520"/>
            <a:ext cx="94484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900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 تفتحوا الأبواب فحسب، بل علّمتمونا كيف نَعبُرها بثقةٍ واقتدار.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خطاب التقدير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10029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خطابٌ من القلب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463040" y="1783080"/>
            <a:ext cx="9265615" cy="4297680"/>
          </a:xfrm>
          <a:prstGeom prst="roundRect">
            <a:avLst>
              <a:gd name="adj" fmla="val 1277"/>
            </a:avLst>
          </a:prstGeom>
          <a:solidFill>
            <a:srgbClr val="F7F3EA"/>
          </a:solidFill>
          <a:ln w="15875">
            <a:solidFill>
              <a:srgbClr val="D8C99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011680" y="2194560"/>
            <a:ext cx="8168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2000" b="1" dirty="0">
                <a:solidFill>
                  <a:srgbClr val="2633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أسرة EFE‑Egypt،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011680" y="2788920"/>
            <a:ext cx="816833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49586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نظرتم إلى مهندسيكم لا كأرقامٍ في برنامج، بل كطاقاتٍ تستحقّ أن تُصقَل وتُحتضَن. رعيتم مهاراتنا، وآمنتم بإمكاناتنا، ومنحتمونا من وقتكم وخبرتكم ما حوّل الطموح إلى طريقٍ واضح المعالم.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2011680" y="4114800"/>
            <a:ext cx="81683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buNone/>
            </a:pPr>
            <a:r>
              <a:rPr lang="en-US" sz="1650" dirty="0">
                <a:solidFill>
                  <a:srgbClr val="49586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فمن كلّ مهندسٍ آمنتم بقدرته: لكم منّا كلّ الشكر والامتنان.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2011680" y="5074920"/>
            <a:ext cx="8168335" cy="0"/>
          </a:xfrm>
          <a:prstGeom prst="line">
            <a:avLst/>
          </a:prstGeom>
          <a:noFill/>
          <a:ln w="12700">
            <a:solidFill>
              <a:srgbClr val="D8C9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19695" y="521208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i="1" dirty="0">
                <a:solidFill>
                  <a:srgbClr val="9C7E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011680" y="53492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00" dirty="0">
                <a:solidFill>
                  <a:srgbClr val="495864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بكلّ تقدير،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وجوهٌ صنعت الفرق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شكرٌ خاص للمُدرّبين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05740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86968" y="2368296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مدرّبو المهارات الناعمة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886968" y="280720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 Skills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86968" y="3227832"/>
            <a:ext cx="2871216" cy="0"/>
          </a:xfrm>
          <a:prstGeom prst="line">
            <a:avLst/>
          </a:prstGeom>
          <a:noFill/>
          <a:ln w="12700">
            <a:solidFill>
              <a:srgbClr val="2C3E5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3575304" y="3547872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34290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د. سيف العقاد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rot="2700000">
            <a:off x="3575304" y="41148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86968" y="399592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د. شاكورا الزعفراني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43400" y="205740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36008" y="2368296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مدرّبو التدريب التقني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4636008" y="280720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DevOps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36008" y="3227832"/>
            <a:ext cx="2871216" cy="0"/>
          </a:xfrm>
          <a:prstGeom prst="line">
            <a:avLst/>
          </a:prstGeom>
          <a:noFill/>
          <a:ln w="12700">
            <a:solidFill>
              <a:srgbClr val="2C3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7324344" y="3547872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636008" y="34290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م. جمال محمد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 rot="2700000">
            <a:off x="7324344" y="41148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9" name="Text 17"/>
          <p:cNvSpPr/>
          <p:nvPr/>
        </p:nvSpPr>
        <p:spPr>
          <a:xfrm>
            <a:off x="4636008" y="3995928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م. عبدالرحمن أحمد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92440" y="2057400"/>
            <a:ext cx="3456432" cy="3200400"/>
          </a:xfrm>
          <a:prstGeom prst="roundRect">
            <a:avLst>
              <a:gd name="adj" fmla="val 2571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85048" y="2368296"/>
            <a:ext cx="2871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فريق الإدارة والتنظيم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385048" y="2807208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200" kern="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85048" y="3227832"/>
            <a:ext cx="2871216" cy="0"/>
          </a:xfrm>
          <a:prstGeom prst="line">
            <a:avLst/>
          </a:prstGeom>
          <a:noFill/>
          <a:ln w="12700">
            <a:solidFill>
              <a:srgbClr val="2C3E5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1073384" y="3547872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8385048" y="3429000"/>
            <a:ext cx="26791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م. شهد جمال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0" y="777240"/>
            <a:ext cx="611093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المكان الذي احتضن الرحلة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486400" y="1143000"/>
            <a:ext cx="611093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F6F2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Senior Academy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0" y="2148840"/>
            <a:ext cx="611093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5000"/>
              </a:lnSpc>
              <a:buNone/>
            </a:pPr>
            <a:r>
              <a:rPr lang="en-US" sz="18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للبيت الذي فتح أبوابه ليجمعنا على التعلّم؛ في قاعاته بدأت الخطوة الأولى نحو المستقبل، وصار المكان نفسه جزءًا من الذكرى.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4480560" cy="4023360"/>
          </a:xfrm>
          <a:prstGeom prst="roundRect">
            <a:avLst>
              <a:gd name="adj" fmla="val 2045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2700000">
            <a:off x="2766060" y="1943100"/>
            <a:ext cx="137160" cy="137160"/>
          </a:xfrm>
          <a:prstGeom prst="rect">
            <a:avLst/>
          </a:prstGeom>
          <a:solidFill>
            <a:srgbClr val="E6CA7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2402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شكرٌ خاصّ من القلب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7889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لمن نظّما وأدارا بكلّ حُبٍّ واهتمام، ووقفا بجانبنا في كلّ خطوة.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691640" y="3749040"/>
            <a:ext cx="2286000" cy="0"/>
          </a:xfrm>
          <a:prstGeom prst="line">
            <a:avLst/>
          </a:prstGeom>
          <a:noFill/>
          <a:ln w="12700">
            <a:solidFill>
              <a:srgbClr val="2C3E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93192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م. يحيى ممتاز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68680" y="452628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24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م. ناريمان خطاب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هي المنظمة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عن مؤسسة EFE‑Egypt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989320" y="1874520"/>
            <a:ext cx="560527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مؤسسةٌ مصريةٌ غير ربحية تُجسِّر الفجوة بين الشباب وسوق العمل. منذ عام 2008، تبني برامج تدريبٍ مرتبطةً مباشرةً بفرص عملٍ حقيقية في القطاع الخاص.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5989320" y="3200400"/>
            <a:ext cx="560527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93A3B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تكتفي بتعليم المهارات المهنية، بل تضيف المهارات التقنية التي يطلبها السوق — من التسويق الرقمي إلى تحليل البيانات — وتظلّ إلى جانب خرّيجيها بالدعم بعد التوظيف، كجزءٍ من شبكة EFE العالمية في الشرق الأوسط وشمال إفريقيا.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2057400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4745736" y="2258568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057400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غير ربحية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715768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4745736" y="2916936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15768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منذ عام 2008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3374136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4745736" y="3575304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3374136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شبكة EFE العالمية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94360" y="4032504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745736" y="4233672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32504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القاهرة · الإسكندرية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4690872"/>
            <a:ext cx="4572000" cy="512064"/>
          </a:xfrm>
          <a:prstGeom prst="roundRect">
            <a:avLst>
              <a:gd name="adj" fmla="val 50000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745736" y="4892040"/>
            <a:ext cx="109728" cy="109728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690872"/>
            <a:ext cx="3840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500" dirty="0">
                <a:solidFill>
                  <a:srgbClr val="F6F2E8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قنا · بورسعيد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64008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أثرٌ يُقاس بالأرقام  ·  منذ 2008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60120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8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الأثر… بالأرقام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594360" y="22860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27889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+7000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1472184" y="397764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4160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شابٍّ وشابة تدرّبوا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3538728" y="22860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38728" y="27889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80%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4416552" y="397764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21608" y="4160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نسبة التوظيف بعد التدريب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83096" y="22860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83096" y="27889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78%</a:t>
            </a:r>
            <a:endParaRPr lang="en-US" sz="5400" dirty="0"/>
          </a:p>
        </p:txBody>
      </p:sp>
      <p:sp>
        <p:nvSpPr>
          <p:cNvPr id="14" name="Shape 12"/>
          <p:cNvSpPr/>
          <p:nvPr/>
        </p:nvSpPr>
        <p:spPr>
          <a:xfrm>
            <a:off x="7360920" y="397764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65976" y="4160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استمرارٌ في الوظيفة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9427464" y="2286000"/>
            <a:ext cx="2670048" cy="2743200"/>
          </a:xfrm>
          <a:prstGeom prst="roundRect">
            <a:avLst>
              <a:gd name="adj" fmla="val 3082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27464" y="2788920"/>
            <a:ext cx="26700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54%</a:t>
            </a:r>
            <a:endParaRPr lang="en-US" sz="5400" dirty="0"/>
          </a:p>
        </p:txBody>
      </p:sp>
      <p:sp>
        <p:nvSpPr>
          <p:cNvPr id="18" name="Shape 16"/>
          <p:cNvSpPr/>
          <p:nvPr/>
        </p:nvSpPr>
        <p:spPr>
          <a:xfrm>
            <a:off x="10305288" y="3977640"/>
            <a:ext cx="9144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10344" y="4160520"/>
            <a:ext cx="23042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مشاركة النساء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كيف يصنعون الفرق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10029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البرامج التدريبية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45352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680192" y="20756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519672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التدريب على التوظيف (JPTP)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519672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برنامجٌ مكثّف يصل إلى 160 ساعة تدريبية يمنح الخرّيجين أدوات الحصول على وظيفة والحفاظ عليها.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20756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68680" y="2103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التوجيه المهني (Career Directions)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868680" y="2743200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تهيئةٌ استباقية لطلّاب السنوات النهائية وحديثي التخرّج بالمهارات الأساسية لدخول سوق العمل.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3913632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0680192" y="4114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519672" y="4142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المهارات التقنية والرقمية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19672" y="47823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تدريبٌ على ما يطلبه السوق فعلًا، من التسويق الرقمي إلى تحليل البيانات.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913632"/>
            <a:ext cx="5349240" cy="1783080"/>
          </a:xfrm>
          <a:prstGeom prst="roundRect">
            <a:avLst>
              <a:gd name="adj" fmla="val 4615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0" y="411480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68680" y="4142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6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التوظيف ودعم الخرّيجين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68680" y="4782312"/>
            <a:ext cx="4800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8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ربطُ الشباب بفرصٍ ملموسة والوقوف بجانبهم بالمتابعة بعد دخول العمل.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94360"/>
            <a:ext cx="110029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ماذا أخذتُ معي</a:t>
            </a:r>
            <a:endParaRPr lang="en-US" sz="1350" dirty="0"/>
          </a:p>
        </p:txBody>
      </p:sp>
      <p:sp>
        <p:nvSpPr>
          <p:cNvPr id="3" name="Text 1"/>
          <p:cNvSpPr/>
          <p:nvPr/>
        </p:nvSpPr>
        <p:spPr>
          <a:xfrm>
            <a:off x="594360" y="914400"/>
            <a:ext cx="110029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36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أثرٌ يتجاوز المهارة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245352" y="18288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2700000">
            <a:off x="11055096" y="2130552"/>
            <a:ext cx="16459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6519672" y="20116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مهارةٌ تقنية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519672" y="24505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أساسٌ متينٌ في DevOps وأدواته، وفهمٌ عمليٌّ لا نظري.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94360" y="1828800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 rot="2700000">
            <a:off x="5404104" y="2130552"/>
            <a:ext cx="16459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011680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عقليةٌ مهنية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868680" y="2450592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انضباطٌ ومسؤولية، وروح فريقٍ تُقدّم العمل على الذات.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45352" y="3273552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 rot="2700000">
            <a:off x="11055096" y="3575304"/>
            <a:ext cx="16459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34564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جاهزيةٌ للسوق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6519672" y="38953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ثقةٌ في مواجهة التحدّيات الحقيقية لا الافتراضية.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94360" y="3273552"/>
            <a:ext cx="5349240" cy="1207008"/>
          </a:xfrm>
          <a:prstGeom prst="roundRect">
            <a:avLst>
              <a:gd name="adj" fmla="val 6818"/>
            </a:avLst>
          </a:prstGeom>
          <a:solidFill>
            <a:srgbClr val="16293C"/>
          </a:solidFill>
          <a:ln w="12700">
            <a:solidFill>
              <a:srgbClr val="2C3E52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 rot="2700000">
            <a:off x="5404104" y="3575304"/>
            <a:ext cx="164592" cy="164592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456432"/>
            <a:ext cx="4343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1750" b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امتنانٌ يدفعني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868680" y="3895344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rtl="1" algn="r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أن أردّ الجميل بأن أُتقن، وأُطوّر، وأنقل ما تعلّمت.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94360" y="5532120"/>
            <a:ext cx="1100297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i="1" dirty="0">
                <a:solidFill>
                  <a:srgbClr val="E6CA7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الموقفُ الصحيح يصنع نصف النجاح… والإتقانُ يصنع نصفه الآخر.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0149840" y="6400800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4360" y="64008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6027268" y="1257300"/>
            <a:ext cx="137160" cy="137160"/>
          </a:xfrm>
          <a:prstGeom prst="rect">
            <a:avLst/>
          </a:prstGeom>
          <a:solidFill>
            <a:srgbClr val="E6CA76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600200"/>
            <a:ext cx="1219169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en-US" sz="1350" b="1" dirty="0">
                <a:solidFill>
                  <a:srgbClr val="C9A227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خاتمة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4000" b="1" dirty="0">
                <a:solidFill>
                  <a:srgbClr val="F6F2E8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ما تعلّمتُه لن يبقى حبيسَ القاعات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828800" y="3200400"/>
            <a:ext cx="8534095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35000"/>
              </a:lnSpc>
              <a:buNone/>
            </a:pPr>
            <a:r>
              <a:rPr lang="en-US" sz="185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سأحمله معي في كلّ مشروعٍ ومسؤولية، ولكم منّي وعدٌ بأن أكون عند حُسن الظنّ. كلّ الشكر لمن آمن، ورعى، وطوّر — أنتم بدايةُ الطريق، لا نهايته.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5181448" y="4892040"/>
            <a:ext cx="182880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0" y="50292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11680"/>
            <a:ext cx="1219169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9000" b="1" dirty="0">
                <a:solidFill>
                  <a:srgbClr val="E6CA76"/>
                </a:solidFill>
                <a:latin typeface="Aref Ruqaa" pitchFamily="34" charset="0"/>
                <a:ea typeface="Aref Ruqaa" pitchFamily="34" charset="-122"/>
                <a:cs typeface="Aref Ruqaa" pitchFamily="34" charset="-120"/>
              </a:rPr>
              <a:t>شكرًا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371600" y="37033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700" dirty="0">
                <a:solidFill>
                  <a:srgbClr val="D7DDE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إلى أسرة EFE‑Egypt و Senior Academy — ولكلّ مَن صنع الفرق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272888" y="4526280"/>
            <a:ext cx="1645920" cy="0"/>
          </a:xfrm>
          <a:prstGeom prst="line">
            <a:avLst/>
          </a:prstGeom>
          <a:noFill/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466344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i="1" dirty="0">
                <a:solidFill>
                  <a:srgbClr val="E6CA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ALnaqib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0" y="53035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93A3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Yousef Salem  ·  Junior DevOps Engineer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EFE Egypt — رسالة تقدير</dc:title>
  <dc:subject>PptxGenJS Presentation</dc:subject>
  <dc:creator>ALnaqib — Yousef Salem</dc:creator>
  <cp:lastModifiedBy>ALnaqib — Yousef Salem</cp:lastModifiedBy>
  <cp:revision>1</cp:revision>
  <dcterms:created xsi:type="dcterms:W3CDTF">2026-06-16T17:41:25Z</dcterms:created>
  <dcterms:modified xsi:type="dcterms:W3CDTF">2026-06-16T17:41:25Z</dcterms:modified>
</cp:coreProperties>
</file>